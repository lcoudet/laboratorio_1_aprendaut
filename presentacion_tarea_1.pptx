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57F5D4B-19D6-4F7D-9E34-E29B6201406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543960"/>
            <a:ext cx="1097136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3379320"/>
            <a:ext cx="10971360" cy="42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543960"/>
            <a:ext cx="1097136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github.com/schochastics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69920" cy="6856560"/>
          </a:xfrm>
          <a:prstGeom prst="rect">
            <a:avLst/>
          </a:prstGeom>
          <a:solidFill>
            <a:srgbClr val="A3B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tIns="45000" rIns="8496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85800" y="1924200"/>
            <a:ext cx="1617840" cy="46080"/>
          </a:xfrm>
          <a:prstGeom prst="rect">
            <a:avLst/>
          </a:prstGeom>
          <a:solidFill>
            <a:srgbClr val="A3B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520" rIns="9000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685800" y="516960"/>
            <a:ext cx="5046840" cy="102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"/>
          <p:cNvSpPr/>
          <p:nvPr/>
        </p:nvSpPr>
        <p:spPr>
          <a:xfrm>
            <a:off x="685800" y="2286000"/>
            <a:ext cx="380844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5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Tar</a:t>
            </a:r>
            <a:r>
              <a:rPr lang="en-US" sz="185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ea </a:t>
            </a:r>
            <a:r>
              <a:rPr lang="en-US" sz="185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85800" y="2781360"/>
            <a:ext cx="9904680" cy="16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6000"/>
              </a:lnSpc>
            </a:pPr>
            <a:r>
              <a:rPr lang="en-US" sz="4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Predicción de resultados</a:t>
            </a:r>
            <a:endParaRPr lang="en-US" sz="4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6000"/>
              </a:lnSpc>
            </a:pPr>
            <a:r>
              <a:rPr lang="en-US" sz="4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del fútbol uruguayo</a:t>
            </a:r>
            <a:endParaRPr lang="en-US" sz="4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85800" y="4686480"/>
            <a:ext cx="666612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Aprendizaje Automático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85800" y="5829480"/>
            <a:ext cx="10819080" cy="12960"/>
          </a:xfrm>
          <a:prstGeom prst="rect">
            <a:avLst/>
          </a:prstGeom>
          <a:solidFill>
            <a:srgbClr val="5B8B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12190680" cy="13176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85800" y="324000"/>
            <a:ext cx="4951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PROBLEMA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685800" y="647640"/>
            <a:ext cx="108190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Pr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ed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ec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ir 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u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o 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de 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tr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es 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re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su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lta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os 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os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ibl</a:t>
            </a: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685800" y="6172200"/>
            <a:ext cx="10819080" cy="1296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27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"/>
          <p:cNvSpPr/>
          <p:nvPr/>
        </p:nvSpPr>
        <p:spPr>
          <a:xfrm>
            <a:off x="11125080" y="6381720"/>
            <a:ext cx="3794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30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685800" y="1581120"/>
            <a:ext cx="171324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Datos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685800" y="1924200"/>
            <a:ext cx="580896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2000"/>
              </a:lnSpc>
            </a:pPr>
            <a:r>
              <a:rPr lang="en-US" sz="24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Partidos del fútbol uruguayo entre 1932 y 2025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685800" y="2743200"/>
            <a:ext cx="5808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Subconjunto del dataset construido por </a:t>
            </a:r>
            <a:r>
              <a:rPr lang="en-US" sz="160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  <a:hlinkClick r:id="rId2"/>
              </a:rPr>
              <a:t>David Schoch</a:t>
            </a:r>
            <a:r>
              <a:rPr lang="en-US" sz="160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 restringido a Uruguay.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685800" y="3543480"/>
            <a:ext cx="38084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7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Objetivos del laboratorio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85800" y="3943440"/>
            <a:ext cx="6094440" cy="14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11"/>
              </a:spcAft>
              <a:tabLst>
                <a:tab pos="0" algn="l"/>
              </a:tabLst>
            </a:pPr>
            <a:r>
              <a:rPr lang="en-US" sz="16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Aplicar herramientas metodológicas sobre datos reales.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11"/>
              </a:spcAft>
              <a:tabLst>
                <a:tab pos="0" algn="l"/>
              </a:tabLst>
            </a:pPr>
            <a:r>
              <a:rPr lang="en-US" sz="16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Implementar y aplicar métodos de aprendizaje supervisado.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Analizar los resultados obtenidos.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7429680" y="1628640"/>
            <a:ext cx="3846600" cy="3856320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>
            <a:solidFill>
              <a:srgbClr val="D3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7810560" y="1924200"/>
            <a:ext cx="308484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7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Clase objetivo: ganador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7848720" y="2571840"/>
            <a:ext cx="68436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32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3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8744040" y="2657520"/>
            <a:ext cx="199872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gana el local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7848720" y="3276720"/>
            <a:ext cx="3008520" cy="79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7848720" y="3448080"/>
            <a:ext cx="68436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32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V</a:t>
            </a:r>
            <a:endParaRPr lang="en-US" sz="3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8744040" y="3533760"/>
            <a:ext cx="199872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gana el visitante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7848720" y="4152960"/>
            <a:ext cx="3008520" cy="79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7848720" y="4324320"/>
            <a:ext cx="68436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325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3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8744040" y="4410000"/>
            <a:ext cx="199872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hay empate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0" y="0"/>
            <a:ext cx="12190680" cy="13176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685800" y="647640"/>
            <a:ext cx="108190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Procesamiento reproducible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85800" y="6172200"/>
            <a:ext cx="10819080" cy="1296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27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"/>
          <p:cNvSpPr/>
          <p:nvPr/>
        </p:nvSpPr>
        <p:spPr>
          <a:xfrm>
            <a:off x="11125080" y="6381720"/>
            <a:ext cx="3794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30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85800" y="1619280"/>
            <a:ext cx="5511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352520" y="1590840"/>
            <a:ext cx="552312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Limpiar los datos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352520" y="2038320"/>
            <a:ext cx="5389560" cy="79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5800" y="2305080"/>
            <a:ext cx="5511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352520" y="2276640"/>
            <a:ext cx="552312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Completar valores faltantes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352520" y="2724120"/>
            <a:ext cx="5389560" cy="79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85800" y="2990880"/>
            <a:ext cx="5511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352520" y="2962440"/>
            <a:ext cx="552312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Transformar y discretizar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352520" y="3409920"/>
            <a:ext cx="5389560" cy="79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85800" y="3676680"/>
            <a:ext cx="5511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352520" y="3648240"/>
            <a:ext cx="552312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Eliminar duplicados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352520" y="4095720"/>
            <a:ext cx="5389560" cy="79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85800" y="4362480"/>
            <a:ext cx="5511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52520" y="4334040"/>
            <a:ext cx="552312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Aplicar otros procedimientos necesarios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7334280" y="1744200"/>
            <a:ext cx="3942000" cy="1751040"/>
          </a:xfrm>
          <a:prstGeom prst="roundRect">
            <a:avLst>
              <a:gd name="adj" fmla="val 9783"/>
            </a:avLst>
          </a:prstGeom>
          <a:solidFill>
            <a:srgbClr val="E7EF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7677000" y="1886040"/>
            <a:ext cx="325620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Uso de los atributos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7677000" y="2343240"/>
            <a:ext cx="323712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9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No es obligatorio usar todos.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9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Se pueden crear atributos calculados.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Se pueden agregar atributos externos.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7334280" y="3749040"/>
            <a:ext cx="3942000" cy="1808280"/>
          </a:xfrm>
          <a:prstGeom prst="roundRect">
            <a:avLst>
              <a:gd name="adj" fmla="val 9474"/>
            </a:avLst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7677000" y="3857760"/>
            <a:ext cx="319896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2000"/>
              </a:lnSpc>
            </a:pPr>
            <a:r>
              <a:rPr lang="en-US" sz="2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Pipeline completamente reproducible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677000" y="4924440"/>
            <a:ext cx="319896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 recomienda utilizar la clase Pipeline de scikit-learn.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0" y="0"/>
            <a:ext cx="12190680" cy="13176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85800" y="647640"/>
            <a:ext cx="108190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Deben implementarse dos clasificadores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85800" y="6172200"/>
            <a:ext cx="10819080" cy="1296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27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"/>
          <p:cNvSpPr/>
          <p:nvPr/>
        </p:nvSpPr>
        <p:spPr>
          <a:xfrm>
            <a:off x="11125080" y="6381720"/>
            <a:ext cx="3794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30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85800" y="1619280"/>
            <a:ext cx="5256360" cy="361800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D3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028880" y="1952640"/>
            <a:ext cx="457056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4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Árbol de decisión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028880" y="2476440"/>
            <a:ext cx="1027440" cy="3672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028880" y="2857680"/>
            <a:ext cx="45705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min_info_gain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028880" y="3600360"/>
            <a:ext cx="4380120" cy="11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8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Detiene la recursión cuando ningún atributo supera una ganancia mínima de información.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248520" y="1619280"/>
            <a:ext cx="5256360" cy="361800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D3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6591240" y="1952640"/>
            <a:ext cx="457056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4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Naive Bayes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591240" y="2476440"/>
            <a:ext cx="1027440" cy="36720"/>
          </a:xfrm>
          <a:prstGeom prst="rect">
            <a:avLst/>
          </a:prstGeom>
          <a:solidFill>
            <a:srgbClr val="A3B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591240" y="2857680"/>
            <a:ext cx="45705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1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591240" y="3600360"/>
            <a:ext cx="4322880" cy="9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8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Hiperparámetro correspondiente al tamaño equivalente de </a:t>
            </a:r>
            <a:r>
              <a:rPr lang="en-US" sz="18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muestra.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0" y="0"/>
            <a:ext cx="12190680" cy="13176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685800" y="647640"/>
            <a:ext cx="108190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Además de las implementaciones suyas, deben utilizar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685800" y="6172200"/>
            <a:ext cx="10819080" cy="1296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27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"/>
          <p:cNvSpPr/>
          <p:nvPr/>
        </p:nvSpPr>
        <p:spPr>
          <a:xfrm>
            <a:off x="11125080" y="6381720"/>
            <a:ext cx="3794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30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85800" y="1695600"/>
            <a:ext cx="5046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Implementaciones de scikit-learn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85800" y="2276640"/>
            <a:ext cx="495144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Random Forest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85800" y="2962440"/>
            <a:ext cx="4761000" cy="79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85800" y="3247920"/>
            <a:ext cx="495144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Naive Bayes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153120" y="1619280"/>
            <a:ext cx="5351760" cy="3579840"/>
          </a:xfrm>
          <a:prstGeom prst="roundRect">
            <a:avLst>
              <a:gd name="adj" fmla="val 4787"/>
            </a:avLst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534000" y="1971720"/>
            <a:ext cx="45896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Clasi</a:t>
            </a:r>
            <a:r>
              <a:rPr lang="en-US" sz="20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ficad</a:t>
            </a:r>
            <a:r>
              <a:rPr lang="en-US" sz="20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or </a:t>
            </a:r>
            <a:r>
              <a:rPr lang="en-US" sz="20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base </a:t>
            </a:r>
            <a:r>
              <a:rPr lang="en-US" sz="20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(deb</a:t>
            </a:r>
            <a:r>
              <a:rPr lang="en-US" sz="20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en </a:t>
            </a:r>
            <a:r>
              <a:rPr lang="en-US" sz="20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crear</a:t>
            </a:r>
            <a:r>
              <a:rPr lang="en-US" sz="20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lo)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534000" y="2629080"/>
            <a:ext cx="4475160" cy="140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2000"/>
              </a:lnSpc>
            </a:pP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Siempre predice que gana el equipo con mayor proporción de partidos ganados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534000" y="4400640"/>
            <a:ext cx="436104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Cálculo realizado sobre los últimos diez años.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0" y="0"/>
            <a:ext cx="12190680" cy="13176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85800" y="647640"/>
            <a:ext cx="108190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Entrenamiento y evaluación están separados en el tiempo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685800" y="6172200"/>
            <a:ext cx="10819080" cy="1296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27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11125080" y="6381720"/>
            <a:ext cx="3794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30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85800" y="1562040"/>
            <a:ext cx="990468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5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La partición debe respetar el carácter temporal de los datos.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85800" y="2400480"/>
            <a:ext cx="104616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1932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8143920" y="2400480"/>
            <a:ext cx="104616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6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2023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9353520" y="2400480"/>
            <a:ext cx="87480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2024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0630080" y="2400480"/>
            <a:ext cx="87480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6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2025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85800" y="2857680"/>
            <a:ext cx="8456760" cy="1179720"/>
          </a:xfrm>
          <a:prstGeom prst="roundRect">
            <a:avLst>
              <a:gd name="adj" fmla="val 11290"/>
            </a:avLst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028880" y="3124080"/>
            <a:ext cx="77709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ENTR</a:t>
            </a:r>
            <a:r>
              <a:rPr lang="en-US" sz="165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ENAMI</a:t>
            </a:r>
            <a:r>
              <a:rPr lang="en-US" sz="165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ENTO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028880" y="3476520"/>
            <a:ext cx="777096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Partidos jugados hasta 2023 inclusive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9353520" y="2857680"/>
            <a:ext cx="2151360" cy="1179720"/>
          </a:xfrm>
          <a:prstGeom prst="roundRect">
            <a:avLst>
              <a:gd name="adj" fmla="val 11290"/>
            </a:avLst>
          </a:prstGeom>
          <a:solidFill>
            <a:srgbClr val="A3B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9543960" y="3124080"/>
            <a:ext cx="17701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EVALUACIÓN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9543960" y="3476520"/>
            <a:ext cx="17701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2024 y 2025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85800" y="4562640"/>
            <a:ext cx="108190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La evaluación final se realiza sobre los partidos </a:t>
            </a:r>
            <a:r>
              <a:rPr lang="en-US" sz="18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de 2024 y 2025.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0" y="0"/>
            <a:ext cx="12190680" cy="13176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85800" y="647640"/>
            <a:ext cx="108190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Busqueda de hiperparámetros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85800" y="6172200"/>
            <a:ext cx="10819080" cy="1296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27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11125080" y="6381720"/>
            <a:ext cx="3794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30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85800" y="1743120"/>
            <a:ext cx="522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75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685800" y="2457360"/>
            <a:ext cx="31417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3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Investigar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85800" y="3000240"/>
            <a:ext cx="3141720" cy="11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7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cómo particionar datos temporales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3828960" y="1895400"/>
            <a:ext cx="303480" cy="1764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4305240" y="1743120"/>
            <a:ext cx="522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7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4305240" y="2457360"/>
            <a:ext cx="31417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3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Ajustar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305240" y="3000240"/>
            <a:ext cx="3141720" cy="11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7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los hiperparámetros solicitados y los adicionales que se investiguen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7448400" y="1895400"/>
            <a:ext cx="303480" cy="1764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7924680" y="1743120"/>
            <a:ext cx="522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75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7924680" y="2457360"/>
            <a:ext cx="31417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3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Co</a:t>
            </a:r>
            <a:r>
              <a:rPr lang="en-US" sz="23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mp</a:t>
            </a:r>
            <a:r>
              <a:rPr lang="en-US" sz="23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ara</a:t>
            </a:r>
            <a:r>
              <a:rPr lang="en-US" sz="23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7924680" y="3000240"/>
            <a:ext cx="3141720" cy="11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7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el error al modificar los hiperparámetros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85800" y="4533840"/>
            <a:ext cx="10819080" cy="817560"/>
          </a:xfrm>
          <a:prstGeom prst="roundRect">
            <a:avLst>
              <a:gd name="adj" fmla="val 16279"/>
            </a:avLst>
          </a:prstGeom>
          <a:solidFill>
            <a:srgbClr val="E7EF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952560" y="4753080"/>
            <a:ext cx="20941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Deben mostrar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3143160" y="4753080"/>
            <a:ext cx="79614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Gráficas del error al variar los hiperparámetros definidos.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0" y="0"/>
            <a:ext cx="12190680" cy="13176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85800" y="324000"/>
            <a:ext cx="4951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A6A9F"/>
                </a:solidFill>
                <a:effectLst/>
                <a:uFillTx/>
                <a:latin typeface="Arial"/>
                <a:ea typeface="Arial"/>
              </a:rPr>
              <a:t>3 · EXPERIMENTACIÓN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85800" y="647640"/>
            <a:ext cx="108190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Métricas y análisis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685800" y="6172200"/>
            <a:ext cx="10819080" cy="1296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27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"/>
          <p:cNvSpPr/>
          <p:nvPr/>
        </p:nvSpPr>
        <p:spPr>
          <a:xfrm>
            <a:off x="11125080" y="6381720"/>
            <a:ext cx="3794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30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685800" y="1639440"/>
            <a:ext cx="10819080" cy="608040"/>
          </a:xfrm>
          <a:prstGeom prst="roundRect">
            <a:avLst>
              <a:gd name="adj" fmla="val 18750"/>
            </a:avLst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952560" y="1666800"/>
            <a:ext cx="10285560" cy="29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7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 los mejores hiperparámetros: reentrenar a cada metodo sobre todo el conjunto de entrenamiento y evaluarlo en test.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85800" y="2467080"/>
            <a:ext cx="32371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7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Métricas globales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685800" y="3898440"/>
            <a:ext cx="25704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Accuracy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665640" y="2888280"/>
            <a:ext cx="25704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Macro-F1 (la mas relevante)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4019400" y="2467080"/>
            <a:ext cx="24750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7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Por clase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4019400" y="2962440"/>
            <a:ext cx="24750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Precisión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4019400" y="3438360"/>
            <a:ext cx="24750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Recall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4019400" y="3914640"/>
            <a:ext cx="24750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F1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7048440" y="2635200"/>
            <a:ext cx="4456440" cy="253224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D3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7391520" y="2724120"/>
            <a:ext cx="37706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Matriz de </a:t>
            </a:r>
            <a:r>
              <a:rPr lang="en-US" sz="21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confusión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7391520" y="3257640"/>
            <a:ext cx="3770640" cy="79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7391520" y="3533760"/>
            <a:ext cx="377064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Análisis cualitativo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7391520" y="4000680"/>
            <a:ext cx="3618000" cy="77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6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Para al menos un modelo describir los escenarios en los que funciona mejor y aquellos en los que tiende a equivocarse.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85800" y="5276880"/>
            <a:ext cx="1081908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75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Comparar el desempeño de todos los clasificadores: propios y de scikit-learn.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0" y="0"/>
            <a:ext cx="12190680" cy="13176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85800" y="647640"/>
            <a:ext cx="108190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Entrega: código, notebook e informe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85800" y="6172200"/>
            <a:ext cx="10819080" cy="1296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27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"/>
          <p:cNvSpPr/>
          <p:nvPr/>
        </p:nvSpPr>
        <p:spPr>
          <a:xfrm>
            <a:off x="11125080" y="6381720"/>
            <a:ext cx="3794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30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85800" y="1571760"/>
            <a:ext cx="5320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4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1428840" y="1590840"/>
            <a:ext cx="3427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1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Código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428840" y="2028960"/>
            <a:ext cx="512316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Implementaciones propias solicitadas.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1428840" y="2523960"/>
            <a:ext cx="5123160" cy="79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85800" y="2685960"/>
            <a:ext cx="5320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4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1428840" y="2705040"/>
            <a:ext cx="3427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1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Jupyter Notebook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1428840" y="3143160"/>
            <a:ext cx="512316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Lee los datos, entrena los modelos y clasifica instancias.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1428840" y="3638520"/>
            <a:ext cx="5123160" cy="79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685800" y="3800520"/>
            <a:ext cx="5320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4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1428840" y="3819600"/>
            <a:ext cx="3427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1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Informe con formato IEEE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1428840" y="4257720"/>
            <a:ext cx="512316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Pruebas y resultados en no más de 5 páginas.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7124760" y="1571760"/>
            <a:ext cx="4380120" cy="3351240"/>
          </a:xfrm>
          <a:prstGeom prst="roundRect">
            <a:avLst>
              <a:gd name="adj" fmla="val 5114"/>
            </a:avLst>
          </a:prstGeom>
          <a:solidFill>
            <a:srgbClr val="E7EF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7467480" y="1876320"/>
            <a:ext cx="36943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2000"/>
              </a:lnSpc>
            </a:pPr>
            <a:r>
              <a:rPr lang="en-US" sz="21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Condiciones </a:t>
            </a:r>
            <a:r>
              <a:rPr lang="en-US" sz="21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de </a:t>
            </a:r>
            <a:r>
              <a:rPr lang="en-US" sz="21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implementació</a:t>
            </a:r>
            <a:r>
              <a:rPr lang="en-US" sz="215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7467480" y="2743200"/>
            <a:ext cx="3675240" cy="17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11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Python </a:t>
            </a:r>
            <a:r>
              <a:rPr lang="en-US" sz="16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3.12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11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Scikit-learn </a:t>
            </a:r>
            <a:r>
              <a:rPr lang="en-US" sz="16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1.9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1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(Solo com referencia para que no usen python 2.X)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1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Semillas aleatorias fijadas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Bibliotecas permitidas para datos, métricas y visualización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685800" y="5219640"/>
            <a:ext cx="108190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004A87"/>
                </a:solidFill>
                <a:effectLst/>
                <a:uFillTx/>
                <a:latin typeface="Arial"/>
                <a:ea typeface="Arial"/>
              </a:rPr>
              <a:t>La solución debe ser autocontenida: no se aceptan archivos de procesamiento parciales.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0" y="0"/>
            <a:ext cx="12190680" cy="13176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685800" y="647640"/>
            <a:ext cx="108190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El uso de IA debe ser crítico y declarado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685800" y="6172200"/>
            <a:ext cx="10819080" cy="1296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27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1125080" y="6381720"/>
            <a:ext cx="3794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30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85800" y="1590840"/>
            <a:ext cx="2589480" cy="3608640"/>
          </a:xfrm>
          <a:prstGeom prst="roundRect">
            <a:avLst>
              <a:gd name="adj" fmla="val 6618"/>
            </a:avLst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1009800" y="2009880"/>
            <a:ext cx="194184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Categoría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1009800" y="2514600"/>
            <a:ext cx="1941840" cy="12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7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7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1009800" y="4048200"/>
            <a:ext cx="194184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Uso extensivo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3943440" y="1790640"/>
            <a:ext cx="7066080" cy="25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r>
              <a:rPr lang="en-US" sz="18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Declarar</a:t>
            </a:r>
            <a:r>
              <a:rPr lang="en-US" sz="18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 el uso de IA.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r>
              <a:rPr lang="en-US" sz="18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Juzgar críticamente</a:t>
            </a:r>
            <a:r>
              <a:rPr lang="en-US" sz="18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 sus resultados.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r>
              <a:rPr lang="en-US" sz="18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Entender</a:t>
            </a:r>
            <a:r>
              <a:rPr lang="en-US" sz="18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 el código generado y sus implicaciones técnicas y éticas.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Mantener</a:t>
            </a:r>
            <a:r>
              <a:rPr lang="en-US" sz="18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 código claro, comentado y con buenas prácticas.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3943440" y="4524480"/>
            <a:ext cx="7066080" cy="79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3943440" y="4809960"/>
            <a:ext cx="70660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Ante dudas, consultar al equipo docente antes de enviar el trabajo.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>
            <a:off x="0" y="0"/>
            <a:ext cx="12190680" cy="131760"/>
          </a:xfrm>
          <a:prstGeom prst="rect">
            <a:avLst/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685800" y="647640"/>
            <a:ext cx="108190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345F"/>
                </a:solidFill>
                <a:effectLst/>
                <a:uFillTx/>
                <a:latin typeface="Arial"/>
                <a:ea typeface="Arial"/>
              </a:rPr>
              <a:t>Dias extra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85800" y="6172200"/>
            <a:ext cx="10819080" cy="1296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"/>
          <p:cNvPicPr/>
          <p:nvPr/>
        </p:nvPicPr>
        <p:blipFill>
          <a:blip r:embed="rId1"/>
          <a:stretch/>
        </p:blipFill>
        <p:spPr>
          <a:xfrm>
            <a:off x="696960" y="6296040"/>
            <a:ext cx="16527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11125080" y="6381720"/>
            <a:ext cx="37944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1300" b="0" u="none" strike="noStrike">
                <a:solidFill>
                  <a:srgbClr val="536979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685800" y="1986840"/>
            <a:ext cx="2589480" cy="3608640"/>
          </a:xfrm>
          <a:prstGeom prst="roundRect">
            <a:avLst>
              <a:gd name="adj" fmla="val 6618"/>
            </a:avLst>
          </a:prstGeom>
          <a:solidFill>
            <a:srgbClr val="004A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1009800" y="2765880"/>
            <a:ext cx="194184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Dias extra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1009800" y="3270600"/>
            <a:ext cx="1941840" cy="12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7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7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1009800" y="4804200"/>
            <a:ext cx="194184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3691440" y="2366640"/>
            <a:ext cx="7066080" cy="25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r>
              <a:rPr lang="en-US" sz="18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Para ambos laboratorios cada grupo va a disponer de </a:t>
            </a:r>
            <a:r>
              <a:rPr lang="en-US" sz="18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4 dias extra </a:t>
            </a:r>
            <a:r>
              <a:rPr lang="en-US" sz="18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que podran administrar como quieran.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r>
              <a:rPr lang="en-US" sz="18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Pueden ir pidiendolos a medida que los necesiten, pedirlos todos juntos o como les convenga.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Aft>
                <a:spcPts val="17"/>
              </a:spcAft>
              <a:tabLst>
                <a:tab pos="0" algn="l"/>
              </a:tabLst>
            </a:pPr>
            <a:r>
              <a:rPr lang="en-US" sz="18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Deben pedirlos </a:t>
            </a:r>
            <a:r>
              <a:rPr lang="en-US" sz="1850" b="1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antes de la fecha de entrega</a:t>
            </a:r>
            <a:r>
              <a:rPr lang="en-US" sz="1850" b="0" u="none" strike="noStrike">
                <a:solidFill>
                  <a:srgbClr val="183247"/>
                </a:solidFill>
                <a:effectLst/>
                <a:uFillTx/>
                <a:latin typeface="Arial"/>
                <a:ea typeface="Arial"/>
              </a:rPr>
              <a:t> de cada laboratorio.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3691440" y="5100480"/>
            <a:ext cx="7066080" cy="7920"/>
          </a:xfrm>
          <a:prstGeom prst="rect">
            <a:avLst/>
          </a:prstGeom>
          <a:solidFill>
            <a:srgbClr val="D3D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4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>
            <a:off x="0" y="0"/>
            <a:ext cx="169920" cy="6856560"/>
          </a:xfrm>
          <a:prstGeom prst="rect">
            <a:avLst/>
          </a:prstGeom>
          <a:solidFill>
            <a:srgbClr val="A3B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tIns="45000" rIns="8496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"/>
          <p:cNvPicPr/>
          <p:nvPr/>
        </p:nvPicPr>
        <p:blipFill>
          <a:blip r:embed="rId1"/>
          <a:stretch/>
        </p:blipFill>
        <p:spPr>
          <a:xfrm>
            <a:off x="685800" y="460800"/>
            <a:ext cx="4284720" cy="86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"/>
          <p:cNvSpPr/>
          <p:nvPr/>
        </p:nvSpPr>
        <p:spPr>
          <a:xfrm>
            <a:off x="685800" y="2095560"/>
            <a:ext cx="47610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50" b="1" u="none" strike="noStrike">
                <a:solidFill>
                  <a:srgbClr val="A3BAD4"/>
                </a:solidFill>
                <a:effectLst/>
                <a:uFillTx/>
                <a:latin typeface="Arial"/>
                <a:ea typeface="Arial"/>
              </a:rPr>
              <a:t>Fecha límite</a:t>
            </a:r>
            <a:endParaRPr lang="en-US" sz="1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85800" y="2571840"/>
            <a:ext cx="971424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4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Lunes 21 de septiembre</a:t>
            </a:r>
            <a:endParaRPr lang="en-US" sz="4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685800" y="3314880"/>
            <a:ext cx="723744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6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 2026 · 23:59</a:t>
            </a:r>
            <a:endParaRPr lang="en-US" sz="3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685800" y="4362480"/>
            <a:ext cx="1808280" cy="36720"/>
          </a:xfrm>
          <a:prstGeom prst="rect">
            <a:avLst/>
          </a:prstGeom>
          <a:solidFill>
            <a:srgbClr val="A3B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685800" y="4705200"/>
            <a:ext cx="952344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21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Código + notebook autocontenido + informe IEEE de hasta 5 páginas</a:t>
            </a:r>
            <a:endParaRPr lang="en-US" sz="2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2026-08-17T01:00:04Z</dcterms:created>
  <dc:creator>Walnut Exporter</dc:creator>
  <dc:description/>
  <dc:language>en-US</dc:language>
  <cp:lastModifiedBy/>
  <dcterms:modified xsi:type="dcterms:W3CDTF">2026-08-26T14:35:27Z</dcterms:modified>
  <cp:revision>5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12</vt:i4>
  </property>
  <property fmtid="{D5CDD505-2E9C-101B-9397-08002B2CF9AE}" pid="4" name="PresentationFormat">
    <vt:lpwstr>On-screen Show (4:3)</vt:lpwstr>
  </property>
  <property fmtid="{D5CDD505-2E9C-101B-9397-08002B2CF9AE}" pid="5" name="Slides">
    <vt:i4>12</vt:i4>
  </property>
</Properties>
</file>